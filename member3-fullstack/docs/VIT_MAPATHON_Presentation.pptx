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PROBLEM STATEMENT 01 • VIT MAPATHON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Agricultural Land Parcel and Crop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Study Region: Ambasamudram &amp; Cheranmahadevi Taluks, Tirunelveli District, Tamil Nadu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291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Study Area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Geographic Extent: </a:t>
            </a:r>
            <a:r>
              <a:rPr sz="1000">
                <a:solidFill>
                  <a:srgbClr val="334155"/>
                </a:solidFill>
              </a:rPr>
              <a:t>Ambasamudram Taluk and Cheranmahadevi Taluk in Tirunelveli District, Tamil Nadu.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Study Area Coverage: </a:t>
            </a:r>
            <a:r>
              <a:rPr sz="1000">
                <a:solidFill>
                  <a:srgbClr val="334155"/>
                </a:solidFill>
              </a:rPr>
              <a:t>&gt;= 20 sq. km minimum requirement (Actual implementation: 55.74 sq. km).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Center Coordinates: </a:t>
            </a:r>
            <a:r>
              <a:rPr sz="1000">
                <a:solidFill>
                  <a:srgbClr val="334155"/>
                </a:solidFill>
              </a:rPr>
              <a:t>Lat 8.70° N, Lon 77.49° E along the Thamirabarani River Basin.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Target Agricultural Classes: </a:t>
            </a:r>
            <a:r>
              <a:rPr sz="1000">
                <a:solidFill>
                  <a:srgbClr val="334155"/>
                </a:solidFill>
              </a:rPr>
              <a:t>Paddy (Wetland crop), Banana (Perennial horticulture), and Other (Fallow &amp; scrub).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Open-Source Constraint: </a:t>
            </a:r>
            <a:r>
              <a:rPr sz="1000">
                <a:solidFill>
                  <a:srgbClr val="334155"/>
                </a:solidFill>
              </a:rPr>
              <a:t>Zero dependency on proprietary, commercial satellite imagery.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002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Operational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Manual Enumeration Delays: </a:t>
            </a:r>
            <a:r>
              <a:rPr sz="1000">
                <a:solidFill>
                  <a:srgbClr val="334155"/>
                </a:solidFill>
              </a:rPr>
              <a:t>Field surveys by village administrative officers require months, costing ₹5,000–₹10,000 per sq. km.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Spectral &amp; Phenological Overlap: </a:t>
            </a:r>
            <a:r>
              <a:rPr sz="1000">
                <a:solidFill>
                  <a:srgbClr val="334155"/>
                </a:solidFill>
              </a:rPr>
              <a:t>Paddy and banana exhibit overlapping high-chlorophyll reflectance signatures in single-date optical images.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Cadastral Fragmentation: </a:t>
            </a:r>
            <a:r>
              <a:rPr sz="1000">
                <a:solidFill>
                  <a:srgbClr val="334155"/>
                </a:solidFill>
              </a:rPr>
              <a:t>Smallholder agricultural parcels in Tamil Nadu are irregular, partitioned by bunds and narrow irrigation canals.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Delayed Disaster &amp; Subsidy Action: </a:t>
            </a:r>
            <a:r>
              <a:rPr sz="1000">
                <a:solidFill>
                  <a:srgbClr val="334155"/>
                </a:solidFill>
              </a:rPr>
              <a:t>Absence of real-time spatial parcel data hampers flood relief allocation and canal water discharge schedules.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00200"/>
            <a:ext cx="3291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3. Solution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Automated Parcel Delineation: </a:t>
            </a:r>
            <a:r>
              <a:rPr sz="1000">
                <a:solidFill>
                  <a:srgbClr val="334155"/>
                </a:solidFill>
              </a:rPr>
              <a:t>Derive field parcel polygons covering &gt;= 20 sq. km using Sentinel-2 L2A optical imagery and OSM infrastructure.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Multi-Class ML Identification: </a:t>
            </a:r>
            <a:r>
              <a:rPr sz="1000">
                <a:solidFill>
                  <a:srgbClr val="334155"/>
                </a:solidFill>
              </a:rPr>
              <a:t>Train a robust Random Forest classifier achieving &gt; 90% accuracy for Paddy, Banana, and Other.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Prevent Spatial Data Leakage: </a:t>
            </a:r>
            <a:r>
              <a:rPr sz="1000">
                <a:solidFill>
                  <a:srgbClr val="334155"/>
                </a:solidFill>
              </a:rPr>
              <a:t>Implement GroupShuffleSplit by unique Parcel ID to guarantee honest validation on unseen farmland.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Production Web GIS Delivery: </a:t>
            </a:r>
            <a:r>
              <a:rPr sz="1000">
                <a:solidFill>
                  <a:srgbClr val="334155"/>
                </a:solidFill>
              </a:rPr>
              <a:t>Develop PostGIS spatial database, FastAPI REST service, and React-Leaflet GIS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COMPARATIVE EVALUATION • TECHNICAL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Existing Approaches vs. Our Proposed Automated GIS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Direct side-by-side differentiation across data source, methodology, validation, and cost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480560"/>
              </a:tblGrid>
              <a:tr h="58293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Conventional / Existing 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Our Proposed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Data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Sample-based ground surveys, paper revenue records, or costly commercial imagery.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Open Sentinel-2 Level-2A (10 m) surface reflectance with BOA correction.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Update Frequency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Seasonal or annual updates (3 to 12 months reporting lag).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Dynamic 5-day revisit cycle enabling multi-temporal phenological tracking.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Field Geometries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Coarse uniform square grids or aggregated village blocks.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Organic cadastral parcel boundaries derived from OSM waterways and roads.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Classification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Manual NDVI thresholding or single-date spectral slicing.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Multi-spectral Random Forest ML combining 6 bands and 4 vegetation/water indices.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Validation Rigor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Random pixel train/test split (severe spatial autocorrelation leakage).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Spatial-aware GroupShuffleSplit by Parcel ID evaluating unseen plots.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Delivery &amp;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Static offline PDFs or desktop GIS shapefiles inaccessible to field officers.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Production Web GIS (React + Leaflet + PostGIS + FastAPI) with REST APIs.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Operational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₹5,000 – ₹10,000 per sq. km for manual field verification.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&lt; ₹50 per sq. km (100% open-source software and open satellite data).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TECHNICAL SOLUTION • STEP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Satellite Remote Sensing &amp; Spectral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Ingesting Sentinel-2 L2A optical scenes, cloud masking, and extracting diagnostic indices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Sentinel-2 L2A Data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Sensor &amp; Level: </a:t>
            </a:r>
            <a:r>
              <a:rPr sz="950">
                <a:solidFill>
                  <a:srgbClr val="334155"/>
                </a:solidFill>
              </a:rPr>
              <a:t>Copernicus Sentinel-2 MSI Level-2A Bottom-of-Atmosphere (BOA) surface reflectance product.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Cloud &amp; Shadow Masking: </a:t>
            </a:r>
            <a:r>
              <a:rPr sz="950">
                <a:solidFill>
                  <a:srgbClr val="334155"/>
                </a:solidFill>
              </a:rPr>
              <a:t>Scene Classification Layer (SCL) filters clouds, thin cirrus, and cloud shadows (&lt; 10% cloud tolerance).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Spatial Alignment &amp; CRS: </a:t>
            </a:r>
            <a:r>
              <a:rPr sz="950">
                <a:solidFill>
                  <a:srgbClr val="334155"/>
                </a:solidFill>
              </a:rPr>
              <a:t>Harmonized to standard metric projection WGS 84 / UTM Zone 43N (EPSG:32643) at 10-meter native spatial resolution.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Multi-temporal Coverage: </a:t>
            </a:r>
            <a:r>
              <a:rPr sz="950">
                <a:solidFill>
                  <a:srgbClr val="334155"/>
                </a:solidFill>
              </a:rPr>
              <a:t>Captures crop vegetative growth and harvesting phenology across the agricultural calendar.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0020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Spectral Bands &amp; Indices Engineered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Core Spectral Bands: </a:t>
            </a:r>
            <a:r>
              <a:rPr sz="950">
                <a:solidFill>
                  <a:srgbClr val="334155"/>
                </a:solidFill>
              </a:rPr>
              <a:t>B02 (Blue), B03 (Green), B04 (Red), B08 (NIR, 10m), B11 (SWIR-1), B12 (SWIR-2, resampled to 10m).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NDVI (Normalized Difference Vegetation Index): </a:t>
            </a:r>
            <a:r>
              <a:rPr sz="950">
                <a:solidFill>
                  <a:srgbClr val="334155"/>
                </a:solidFill>
              </a:rPr>
              <a:t>(B08 - B04) / (B08 + B04) — Quantifies canopy chlorophyll biomass.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EVI (Enhanced Vegetation Index): </a:t>
            </a:r>
            <a:r>
              <a:rPr sz="950">
                <a:solidFill>
                  <a:srgbClr val="334155"/>
                </a:solidFill>
              </a:rPr>
              <a:t>2.5 * (B08 - B04) / (B08 + 6*B04 - 7.5*B02 + 1) — Decouples atmospheric drag in dense banana canopies.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SAVI (Soil-Adjusted Vegetation Index): </a:t>
            </a:r>
            <a:r>
              <a:rPr sz="950">
                <a:solidFill>
                  <a:srgbClr val="334155"/>
                </a:solidFill>
              </a:rPr>
              <a:t>1.5 * (B08 - B04) / (B08 + B04 + 0.5) — Controls for background soil brightness.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NDWI (Normalized Difference Water Index): </a:t>
            </a:r>
            <a:r>
              <a:rPr sz="950">
                <a:solidFill>
                  <a:srgbClr val="334155"/>
                </a:solidFill>
              </a:rPr>
              <a:t>(B03 - B08) / (B03 + B08) — Distinguishes flooded fields during Paddy transplantation.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PIPELINE FLOW:  Sentinel-2 L2A (10m) ──► SCL Cloud Mask ──► Metric UTM 43N Grid ──► Band Extraction (B02-B12) ──► Vegetation &amp; Moisture Indices (NDVI, NDWI, EVI, SAVI)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TECHNICAL SOLUTION • STEP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Spatial-Aware Machine Learning &amp;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Random Forest crop classifier evaluated with GroupShuffleSplit by Parcel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ML Classification &amp; Validation Rigor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Prevention of Spatial Leakage: </a:t>
            </a:r>
            <a:r>
              <a:rPr sz="900">
                <a:solidFill>
                  <a:srgbClr val="334155"/>
                </a:solidFill>
              </a:rPr>
              <a:t>Neighboring pixels in the same plot share identical signatures. GroupShuffleSplit by unique Parcel ID ensures the model is tested on completely unseen fields.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Random Forest Classifier: </a:t>
            </a:r>
            <a:r>
              <a:rPr sz="900">
                <a:solidFill>
                  <a:srgbClr val="334155"/>
                </a:solidFill>
              </a:rPr>
              <a:t>150 estimators, balanced class weights, Gini criterion. Extracts median zonal spectral features per parcel.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Multi-Class Probability Output: </a:t>
            </a:r>
            <a:r>
              <a:rPr sz="900">
                <a:solidFill>
                  <a:srgbClr val="334155"/>
                </a:solidFill>
              </a:rPr>
              <a:t>Computes probability scores (prob_paddy, prob_banana, prob_other) and maximum confidence score per parcel.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Overall Accuracy Achieved: </a:t>
            </a:r>
            <a:r>
              <a:rPr sz="900">
                <a:solidFill>
                  <a:srgbClr val="334155"/>
                </a:solidFill>
              </a:rPr>
              <a:t>91.84% across the spatial test split.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Macro F1-Score: 0.9082 | Weighted F1-Score: 0.9185 </a:t>
            </a:r>
            <a:r>
              <a:rPr sz="900">
                <a:solidFill>
                  <a:srgbClr val="334155"/>
                </a:solidFill>
              </a:rPr>
              <a:t>Balanced performance across all three target agricultural categories: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Paddy Classification: </a:t>
            </a:r>
            <a:r>
              <a:rPr sz="900">
                <a:solidFill>
                  <a:srgbClr val="334155"/>
                </a:solidFill>
              </a:rPr>
              <a:t>Precision: 93.6% | Recall: 94.5% | F1-Score: 94.05%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Banana Classification: </a:t>
            </a:r>
            <a:r>
              <a:rPr sz="900">
                <a:solidFill>
                  <a:srgbClr val="334155"/>
                </a:solidFill>
              </a:rPr>
              <a:t>Precision: 89.8% | Recall: 88.2% | F1-Score: 88.99%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Other / Fallow: </a:t>
            </a:r>
            <a:r>
              <a:rPr sz="900">
                <a:solidFill>
                  <a:srgbClr val="334155"/>
                </a:solidFill>
              </a:rPr>
              <a:t>Precision: 89.6% | Recall: 89.2% | F1-Score: 89.45%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002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Project Evaluation Visualizations</a:t>
            </a:r>
          </a:p>
        </p:txBody>
      </p:sp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2377440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0233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Confusion Matrix Heatmap</a:t>
            </a:r>
          </a:p>
        </p:txBody>
      </p:sp>
      <p:pic>
        <p:nvPicPr>
          <p:cNvPr id="12" name="Picture 11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57400"/>
            <a:ext cx="23774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40233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Feature Importance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</a:defRPr>
            </a:pPr>
            <a:r>
              <a:t>Key Scientific Finding: NDVI_mean (24.5%) and NDWI_min (18.2%) are the top discriminators. NDWI captures wet soil inundation during early Paddy transplantation, while EVI separates perennial banana foliage from seasonal crops.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TECHNICAL SOLUTION • STEP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PostGIS Spatial Database &amp; Interactive Web GIS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FastAPI backend, React-Leaflet GIS interface with Satellite Hybrid and OSM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4754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Full-Stack Geospatial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950">
                <a:solidFill>
                  <a:srgbClr val="0F172A"/>
                </a:solidFill>
              </a:rPr>
              <a:t>PostGIS Spatial Database: </a:t>
            </a:r>
            <a:r>
              <a:rPr sz="900">
                <a:solidFill>
                  <a:srgbClr val="334155"/>
                </a:solidFill>
              </a:rPr>
              <a:t>PostgreSQL schema with spatial GIST indexing on geom GEOMETRY(Geometry, 4326) enabling sub-millisecond bounding box spatial queries.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F172A"/>
                </a:solidFill>
              </a:rPr>
              <a:t>FastAPI REST Service (/api): </a:t>
            </a:r>
            <a:r>
              <a:rPr sz="900">
                <a:solidFill>
                  <a:srgbClr val="334155"/>
                </a:solidFill>
              </a:rPr>
              <a:t>Provides high-throughput endpoints for /parcels (filters by crop, confidence), /statistics, /metrics, /places, and /infrastructure.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F172A"/>
                </a:solidFill>
              </a:rPr>
              <a:t>Zero-Crash Offline Resilience: </a:t>
            </a:r>
            <a:r>
              <a:rPr sz="900">
                <a:solidFill>
                  <a:srgbClr val="334155"/>
                </a:solidFill>
              </a:rPr>
              <a:t>Seamlessly executes live PostGIS SQL queries when database is active, with instant fallback to verified GeoJSON deliverables.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F172A"/>
                </a:solidFill>
              </a:rPr>
              <a:t>Satellite Hybrid Basemap: </a:t>
            </a:r>
            <a:r>
              <a:rPr sz="900">
                <a:solidFill>
                  <a:srgbClr val="334155"/>
                </a:solidFill>
              </a:rPr>
              <a:t>Combines Esri World Satellite Imagery with official Tamil Nadu boundaries, district borders, town names, and street networks.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F172A"/>
                </a:solidFill>
              </a:rPr>
              <a:t>Cadastral Parcel Inspector: </a:t>
            </a:r>
            <a:r>
              <a:rPr sz="900">
                <a:solidFill>
                  <a:srgbClr val="334155"/>
                </a:solidFill>
              </a:rPr>
              <a:t>Interactive popups display Parcel ID, Village, crop classification, confidence %, metric area (ha, acres, sq. km), and class probabilities.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F172A"/>
                </a:solidFill>
              </a:rPr>
              <a:t>Real OSM Infrastructure: </a:t>
            </a:r>
            <a:r>
              <a:rPr sz="900">
                <a:solidFill>
                  <a:srgbClr val="334155"/>
                </a:solidFill>
              </a:rPr>
              <a:t>Overlays 252 real vector waterways (Thamirabarani River) and State Highway 41 (SH-41) alongside 13 verified revenue villages.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600200"/>
            <a:ext cx="5669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Live Dashboard (Ambasamudram &amp; Cheranmahadevi)</a:t>
            </a:r>
          </a:p>
        </p:txBody>
      </p:sp>
      <p:pic>
        <p:nvPicPr>
          <p:cNvPr id="10" name="Picture 9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57400"/>
            <a:ext cx="5394960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80" y="5532120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Operational Dashboard (localhost:5174): Displays 1,050 organic parcels (55.74 km²) across Tirunelveli District, dual-taluk toggles, confidence slider, and parcel inspector.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